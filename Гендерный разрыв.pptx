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6"/>
  </p:notesMasterIdLst>
  <p:sldIdLst>
    <p:sldId id="256" r:id="rId2"/>
    <p:sldId id="346" r:id="rId3"/>
    <p:sldId id="347" r:id="rId4"/>
    <p:sldId id="348" r:id="rId5"/>
    <p:sldId id="352" r:id="rId6"/>
    <p:sldId id="349" r:id="rId7"/>
    <p:sldId id="350" r:id="rId8"/>
    <p:sldId id="357" r:id="rId9"/>
    <p:sldId id="354" r:id="rId10"/>
    <p:sldId id="355" r:id="rId11"/>
    <p:sldId id="353" r:id="rId12"/>
    <p:sldId id="356" r:id="rId13"/>
    <p:sldId id="351" r:id="rId14"/>
    <p:sldId id="307" r:id="rId15"/>
  </p:sldIdLst>
  <p:sldSz cx="12960350" cy="6840538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BA418856-1B13-0E4D-B8D9-6D6ECDDA5229}">
          <p14:sldIdLst>
            <p14:sldId id="256"/>
            <p14:sldId id="346"/>
            <p14:sldId id="347"/>
            <p14:sldId id="348"/>
            <p14:sldId id="352"/>
            <p14:sldId id="349"/>
            <p14:sldId id="350"/>
            <p14:sldId id="357"/>
            <p14:sldId id="354"/>
            <p14:sldId id="355"/>
            <p14:sldId id="353"/>
            <p14:sldId id="356"/>
            <p14:sldId id="351"/>
            <p14:sldId id="307"/>
          </p14:sldIdLst>
        </p14:section>
        <p14:section name="Раздел без заголовка" id="{FED790F9-8494-46E1-B83E-DB16908DF66B}">
          <p14:sldIdLst/>
        </p14:section>
        <p14:section name="Основные стили" id="{9C5DBF73-5C8C-8D4C-BB54-DF085EC13081}">
          <p14:sldIdLst/>
        </p14:section>
      </p14:sectionLst>
    </p:ext>
    <p:ext uri="{EFAFB233-063F-42B5-8137-9DF3F51BA10A}">
      <p15:sldGuideLst xmlns:p15="http://schemas.microsoft.com/office/powerpoint/2012/main">
        <p15:guide id="1" pos="657" userDrawn="1">
          <p15:clr>
            <a:srgbClr val="A4A3A4"/>
          </p15:clr>
        </p15:guide>
        <p15:guide id="2" orient="horz" pos="703" userDrawn="1">
          <p15:clr>
            <a:srgbClr val="A4A3A4"/>
          </p15:clr>
        </p15:guide>
        <p15:guide id="3" pos="72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Елена Елена" initials="ЕЕ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003E"/>
    <a:srgbClr val="E0150F"/>
    <a:srgbClr val="E6E6E6"/>
    <a:srgbClr val="AFABAB"/>
    <a:srgbClr val="6D6D6D"/>
    <a:srgbClr val="EB5E3F"/>
    <a:srgbClr val="48494A"/>
    <a:srgbClr val="061A6C"/>
    <a:srgbClr val="404040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62" autoAdjust="0"/>
    <p:restoredTop sz="94659"/>
  </p:normalViewPr>
  <p:slideViewPr>
    <p:cSldViewPr snapToGrid="0">
      <p:cViewPr varScale="1">
        <p:scale>
          <a:sx n="60" d="100"/>
          <a:sy n="60" d="100"/>
        </p:scale>
        <p:origin x="1068" y="52"/>
      </p:cViewPr>
      <p:guideLst>
        <p:guide pos="657"/>
        <p:guide orient="horz" pos="703"/>
        <p:guide pos="72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B0AE3-F1A2-394F-BC18-67F76EFC1ECD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42888" y="1233488"/>
            <a:ext cx="6311900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9C60B-6F98-8646-A41A-70FA44D3BD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323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688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44" y="1119505"/>
            <a:ext cx="9720263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044" y="3592866"/>
            <a:ext cx="9720263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06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22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274" y="1705385"/>
            <a:ext cx="11178302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274" y="4577778"/>
            <a:ext cx="11178302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75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464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024" y="1820976"/>
            <a:ext cx="5508149" cy="43402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177" y="1820976"/>
            <a:ext cx="5508149" cy="43402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102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364196"/>
            <a:ext cx="11178302" cy="1322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713" y="1676882"/>
            <a:ext cx="54828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2713" y="2498697"/>
            <a:ext cx="5482835" cy="36752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1177" y="1676882"/>
            <a:ext cx="5509837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1177" y="2498697"/>
            <a:ext cx="5509837" cy="36752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184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448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7F7827-21D6-5054-F4C6-CF3F1E1A33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2204" y="0"/>
            <a:ext cx="1058146" cy="68405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9761A6D-E025-ED50-4287-24ECE36ED8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243" y="239405"/>
            <a:ext cx="894267" cy="31982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A0C2274-20E7-0C84-678A-7BC227870B3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5AA3578-2E3E-AC0A-C0A4-03BA169D6B14}"/>
              </a:ext>
            </a:extLst>
          </p:cNvPr>
          <p:cNvSpPr/>
          <p:nvPr userDrawn="1"/>
        </p:nvSpPr>
        <p:spPr>
          <a:xfrm>
            <a:off x="-3243" y="239405"/>
            <a:ext cx="894267" cy="319820"/>
          </a:xfrm>
          <a:prstGeom prst="rect">
            <a:avLst/>
          </a:prstGeom>
          <a:solidFill>
            <a:srgbClr val="BE00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191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3" y="456036"/>
            <a:ext cx="4180050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9837" y="984911"/>
            <a:ext cx="6561177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3" y="2052161"/>
            <a:ext cx="4180050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545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3" y="456036"/>
            <a:ext cx="4180050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09837" y="984911"/>
            <a:ext cx="6561177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3" y="2052161"/>
            <a:ext cx="4180050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805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4751" y="364195"/>
            <a:ext cx="2794575" cy="579704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1024" y="364195"/>
            <a:ext cx="8221722" cy="579704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618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024" y="364196"/>
            <a:ext cx="11178302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024" y="1820976"/>
            <a:ext cx="11178302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024" y="6340166"/>
            <a:ext cx="291607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B2549-D5F9-604B-9EB9-69E1A6399CB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3116" y="6340166"/>
            <a:ext cx="4374118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3247" y="6340166"/>
            <a:ext cx="291607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608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43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3" kern="1200">
          <a:solidFill>
            <a:schemeClr val="tx1"/>
          </a:solidFill>
          <a:latin typeface="+mn-lt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00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1650DA2-9DD9-C801-FC5D-C65322C76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520" y="0"/>
            <a:ext cx="4189830" cy="684053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280AF07-DD1E-10D4-3116-A6219A379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60" y="329338"/>
            <a:ext cx="1862895" cy="8196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2E66A5-B7BB-4611-AD20-7791203ED1B1}"/>
              </a:ext>
            </a:extLst>
          </p:cNvPr>
          <p:cNvSpPr txBox="1"/>
          <p:nvPr/>
        </p:nvSpPr>
        <p:spPr>
          <a:xfrm>
            <a:off x="1072879" y="5872406"/>
            <a:ext cx="2246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Москва 2025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EE3359-1000-9B99-A657-7B51CCBD9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2879" y="2097050"/>
            <a:ext cx="10423442" cy="1477328"/>
          </a:xfrm>
        </p:spPr>
        <p:txBody>
          <a:bodyPr>
            <a:normAutofit/>
          </a:bodyPr>
          <a:lstStyle/>
          <a:p>
            <a:pPr algn="l"/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Проектная работа по курсу «Эконометрика-1»</a:t>
            </a:r>
            <a:b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«Исследование гендерного разрыва в заработанных платах»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1345A-86E2-BD2C-4E79-A5DF62C76A9F}"/>
              </a:ext>
            </a:extLst>
          </p:cNvPr>
          <p:cNvSpPr txBox="1"/>
          <p:nvPr/>
        </p:nvSpPr>
        <p:spPr>
          <a:xfrm>
            <a:off x="1072879" y="3786708"/>
            <a:ext cx="38648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8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Студенты:</a:t>
            </a:r>
            <a:endParaRPr lang="ru-RU" sz="1800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ru-RU" sz="18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Коблова Ксения Романовна,</a:t>
            </a:r>
          </a:p>
          <a:p>
            <a:pPr>
              <a:buNone/>
            </a:pPr>
            <a:r>
              <a:rPr lang="ru-RU" sz="18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Черненко Михаил Дмитриевич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53F978-4DF3-E41C-74A8-D377A35B9B5C}"/>
              </a:ext>
            </a:extLst>
          </p:cNvPr>
          <p:cNvSpPr txBox="1"/>
          <p:nvPr/>
        </p:nvSpPr>
        <p:spPr>
          <a:xfrm>
            <a:off x="5775780" y="3878563"/>
            <a:ext cx="71845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8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Преподаватели:</a:t>
            </a:r>
            <a:endParaRPr lang="ru-RU" sz="1800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ru-RU" sz="1800" kern="1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Турунцева</a:t>
            </a:r>
            <a:r>
              <a:rPr lang="ru-RU" sz="18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Марина Юрьевна,</a:t>
            </a:r>
          </a:p>
          <a:p>
            <a:pPr>
              <a:buNone/>
            </a:pPr>
            <a:r>
              <a:rPr lang="ru-RU" sz="18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Кириллова Мария Андреевна,</a:t>
            </a:r>
          </a:p>
          <a:p>
            <a:pPr>
              <a:buNone/>
            </a:pPr>
            <a:r>
              <a:rPr lang="ru-RU" sz="18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Галеева Екатерина Александровна,</a:t>
            </a:r>
          </a:p>
          <a:p>
            <a:pPr>
              <a:buNone/>
            </a:pPr>
            <a:r>
              <a:rPr lang="ru-RU" sz="1800" kern="1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Зямалов</a:t>
            </a:r>
            <a:r>
              <a:rPr lang="ru-RU" sz="18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Вадим Евгеньевич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203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51250-42C5-BA9D-5683-346427C47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0099AA-4945-606D-5C49-A8AA49720CAA}"/>
              </a:ext>
            </a:extLst>
          </p:cNvPr>
          <p:cNvSpPr txBox="1"/>
          <p:nvPr/>
        </p:nvSpPr>
        <p:spPr>
          <a:xfrm>
            <a:off x="1042988" y="244575"/>
            <a:ext cx="556581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Объекты и цель исследования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9CDCC7-29DD-5A8A-4517-AE0BDA1D0FFD}"/>
              </a:ext>
            </a:extLst>
          </p:cNvPr>
          <p:cNvSpPr txBox="1"/>
          <p:nvPr/>
        </p:nvSpPr>
        <p:spPr>
          <a:xfrm>
            <a:off x="1042988" y="1353058"/>
            <a:ext cx="10406062" cy="52322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1200"/>
              </a:spcBef>
              <a:buClr>
                <a:srgbClr val="BE003E"/>
              </a:buClr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Объекты исследования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города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Санкт-Петербург, Казань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годы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2019, 2024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целевая переменная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заработная плата</a:t>
            </a:r>
          </a:p>
          <a:p>
            <a:pPr>
              <a:spcBef>
                <a:spcPts val="1200"/>
              </a:spcBef>
              <a:buClr>
                <a:srgbClr val="BE003E"/>
              </a:buClr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Цель исследования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эмпирическое тестирование гипотезы о наличии гендерного разрыва в заработных платах на основе имеющихся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микроданных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spcBef>
                <a:spcPts val="1200"/>
              </a:spcBef>
              <a:buClr>
                <a:srgbClr val="BE003E"/>
              </a:buClr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Задачи исследования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Провести первичный анализ данных о заработной плате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Построить эконометрические модели заработной платы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Сравнить альтернативные спецификации и отобрать предпочтительную модель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Проверить корректность полученных выводов с помощью диагностических тестов</a:t>
            </a:r>
          </a:p>
          <a:p>
            <a:pPr>
              <a:spcBef>
                <a:spcPts val="1200"/>
              </a:spcBef>
              <a:buClr>
                <a:srgbClr val="BE003E"/>
              </a:buClr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C87B94-BED3-E1FA-9235-497297C0BA33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471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9141D-8A98-29DB-6AB3-0AF3DE59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8901F3-9D81-B6BD-72B2-6F941201C1CB}"/>
              </a:ext>
            </a:extLst>
          </p:cNvPr>
          <p:cNvSpPr txBox="1"/>
          <p:nvPr/>
        </p:nvSpPr>
        <p:spPr>
          <a:xfrm>
            <a:off x="1042988" y="244575"/>
            <a:ext cx="346966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Модель и гипотезы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CE297-219E-8308-2D67-FCC3F71E1912}"/>
              </a:ext>
            </a:extLst>
          </p:cNvPr>
          <p:cNvSpPr txBox="1"/>
          <p:nvPr/>
        </p:nvSpPr>
        <p:spPr>
          <a:xfrm>
            <a:off x="1042988" y="2236932"/>
            <a:ext cx="10406062" cy="236667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200000"/>
              </a:lnSpc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Нулевая гипотеза (</a:t>
            </a:r>
            <a:r>
              <a:rPr lang="ru-R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₀):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β1 = 0 – гендерный разрыв в заработных платах отсутствует после учёта наблюдаемых характеристик.</a:t>
            </a:r>
          </a:p>
          <a:p>
            <a:pPr lvl="0">
              <a:lnSpc>
                <a:spcPct val="200000"/>
              </a:lnSpc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Альтернативная гипотеза (</a:t>
            </a:r>
            <a:r>
              <a:rPr lang="ru-R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₁):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β1 ≠0 – существует статистически значимый гендерный разрыв в заработных платах.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7DFE03-B61D-C826-6C06-EE8A62B1649A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F936AB-124A-7DEF-ECEE-CF8111ECF63A}"/>
                  </a:ext>
                </a:extLst>
              </p:cNvPr>
              <p:cNvSpPr txBox="1"/>
              <p:nvPr/>
            </p:nvSpPr>
            <p:spPr>
              <a:xfrm>
                <a:off x="1042988" y="1256142"/>
                <a:ext cx="42719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kern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𝑤𝑎𝑔𝑒</m:t>
                          </m:r>
                        </m:e>
                        <m:sub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20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0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𝑓𝑒𝑚𝑎𝑙𝑒</m:t>
                          </m:r>
                        </m:e>
                        <m:sub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20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20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F936AB-124A-7DEF-ECEE-CF8111ECF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988" y="1256142"/>
                <a:ext cx="4271962" cy="400110"/>
              </a:xfrm>
              <a:prstGeom prst="rect">
                <a:avLst/>
              </a:prstGeom>
              <a:blipFill>
                <a:blip r:embed="rId2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159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14791-727B-020D-43FB-0DCB7C850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9479B6-E60A-0280-BD4E-EA7197FC1B50}"/>
              </a:ext>
            </a:extLst>
          </p:cNvPr>
          <p:cNvSpPr txBox="1"/>
          <p:nvPr/>
        </p:nvSpPr>
        <p:spPr>
          <a:xfrm>
            <a:off x="1023582" y="244575"/>
            <a:ext cx="6227795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Выбор объясняющих переменных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982FB8-5F91-6462-5332-E0B57126F89A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5B75DA0-2CE8-35D3-5858-A1A719EA9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112007"/>
              </p:ext>
            </p:extLst>
          </p:nvPr>
        </p:nvGraphicFramePr>
        <p:xfrm>
          <a:off x="358063" y="1261638"/>
          <a:ext cx="6122112" cy="4737517"/>
        </p:xfrm>
        <a:graphic>
          <a:graphicData uri="http://schemas.openxmlformats.org/drawingml/2006/table">
            <a:tbl>
              <a:tblPr firstRow="1" firstCol="1" bandRow="1">
                <a:tableStyleId>{EB344D84-9AFB-497E-A393-DC336BA19D2E}</a:tableStyleId>
              </a:tblPr>
              <a:tblGrid>
                <a:gridCol w="3291445">
                  <a:extLst>
                    <a:ext uri="{9D8B030D-6E8A-4147-A177-3AD203B41FA5}">
                      <a16:colId xmlns:a16="http://schemas.microsoft.com/office/drawing/2014/main" val="3919567248"/>
                    </a:ext>
                  </a:extLst>
                </a:gridCol>
                <a:gridCol w="2830667">
                  <a:extLst>
                    <a:ext uri="{9D8B030D-6E8A-4147-A177-3AD203B41FA5}">
                      <a16:colId xmlns:a16="http://schemas.microsoft.com/office/drawing/2014/main" val="1719824889"/>
                    </a:ext>
                  </a:extLst>
                </a:gridCol>
              </a:tblGrid>
              <a:tr h="9817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Переменная 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Обозначение в модели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632"/>
                  </a:ext>
                </a:extLst>
              </a:tr>
              <a:tr h="98174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Зависимая переменная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240791"/>
                  </a:ext>
                </a:extLst>
              </a:tr>
              <a:tr h="49087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Заработная плата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 dirty="0">
                          <a:effectLst/>
                        </a:rPr>
                        <a:t>wage (j13.2)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611417"/>
                  </a:ext>
                </a:extLst>
              </a:tr>
              <a:tr h="98174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Ключевая объясняющая переменная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814505"/>
                  </a:ext>
                </a:extLst>
              </a:tr>
              <a:tr h="9817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Пол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 dirty="0">
                          <a:effectLst/>
                        </a:rPr>
                        <a:t>female (h5)*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105670"/>
                  </a:ext>
                </a:extLst>
              </a:tr>
              <a:tr h="98174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Контрольные переменные 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530208"/>
                  </a:ext>
                </a:extLst>
              </a:tr>
              <a:tr h="9817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Регион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>
                          <a:effectLst/>
                        </a:rPr>
                        <a:t>spb (region)*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712573"/>
                  </a:ext>
                </a:extLst>
              </a:tr>
              <a:tr h="9817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Год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 dirty="0">
                          <a:effectLst/>
                        </a:rPr>
                        <a:t>year_2024 (year)*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3268879"/>
                  </a:ext>
                </a:extLst>
              </a:tr>
              <a:tr h="9817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</a:rPr>
                        <a:t>Возраст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>
                          <a:effectLst/>
                        </a:rPr>
                        <a:t>age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4504318"/>
                  </a:ext>
                </a:extLst>
              </a:tr>
              <a:tr h="29452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</a:rPr>
                        <a:t>Владение иностранным языком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>
                          <a:effectLst/>
                        </a:rPr>
                        <a:t>lang (j260)</a:t>
                      </a:r>
                      <a:r>
                        <a:rPr lang="ru-RU" sz="1600" kern="100">
                          <a:effectLst/>
                        </a:rPr>
                        <a:t>*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64421"/>
                  </a:ext>
                </a:extLst>
              </a:tr>
              <a:tr h="19634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Количество часов работы в неделю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 dirty="0">
                          <a:effectLst/>
                        </a:rPr>
                        <a:t>hours of work per week (j6.2)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668757"/>
                  </a:ext>
                </a:extLst>
              </a:tr>
              <a:tr h="9817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</a:rPr>
                        <a:t>Численность населения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popul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866291"/>
                  </a:ext>
                </a:extLst>
              </a:tr>
              <a:tr h="19634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</a:rPr>
                        <a:t>Количество детей (младше 18)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 dirty="0">
                          <a:effectLst/>
                        </a:rPr>
                        <a:t>children (j72.173)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2594765"/>
                  </a:ext>
                </a:extLst>
              </a:tr>
              <a:tr h="29452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Владение предприятием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 dirty="0">
                          <a:effectLst/>
                        </a:rPr>
                        <a:t>owner (j26)</a:t>
                      </a:r>
                      <a:r>
                        <a:rPr lang="ru-RU" sz="1600" kern="100" dirty="0">
                          <a:effectLst/>
                        </a:rPr>
                        <a:t>*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833674"/>
                  </a:ext>
                </a:extLst>
              </a:tr>
              <a:tr h="98174">
                <a:tc rowSpan="4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Уровень образования</a:t>
                      </a:r>
                    </a:p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(</a:t>
                      </a:r>
                      <a:r>
                        <a:rPr lang="en-US" sz="1600" kern="100" dirty="0" err="1">
                          <a:effectLst/>
                        </a:rPr>
                        <a:t>diplom</a:t>
                      </a:r>
                      <a:r>
                        <a:rPr lang="en-US" sz="1600" kern="100" dirty="0">
                          <a:effectLst/>
                        </a:rPr>
                        <a:t>)*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below_secondary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40551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secondary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29291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vocational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834151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higher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9155802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6A0AC3D-37FE-4499-9CFB-1777074EF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606085"/>
              </p:ext>
            </p:extLst>
          </p:nvPr>
        </p:nvGraphicFramePr>
        <p:xfrm>
          <a:off x="6690503" y="1261638"/>
          <a:ext cx="6122111" cy="4199154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3291444">
                  <a:extLst>
                    <a:ext uri="{9D8B030D-6E8A-4147-A177-3AD203B41FA5}">
                      <a16:colId xmlns:a16="http://schemas.microsoft.com/office/drawing/2014/main" val="2786804381"/>
                    </a:ext>
                  </a:extLst>
                </a:gridCol>
                <a:gridCol w="2830667">
                  <a:extLst>
                    <a:ext uri="{9D8B030D-6E8A-4147-A177-3AD203B41FA5}">
                      <a16:colId xmlns:a16="http://schemas.microsoft.com/office/drawing/2014/main" val="11348773"/>
                    </a:ext>
                  </a:extLst>
                </a:gridCol>
              </a:tblGrid>
              <a:tr h="29452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Контрольные переменные 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00" dirty="0">
                          <a:effectLst/>
                        </a:rPr>
                        <a:t>Обозначение в модели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solidFill>
                      <a:srgbClr val="BE0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864435"/>
                  </a:ext>
                </a:extLst>
              </a:tr>
              <a:tr h="98174">
                <a:tc rowSpan="4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Семейное положение (</a:t>
                      </a:r>
                      <a:r>
                        <a:rPr lang="en-US" sz="1600" kern="100" dirty="0" err="1">
                          <a:effectLst/>
                        </a:rPr>
                        <a:t>marst</a:t>
                      </a:r>
                      <a:r>
                        <a:rPr lang="en-US" sz="1600" kern="100" dirty="0">
                          <a:effectLst/>
                        </a:rPr>
                        <a:t>)*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single_never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/>
                </a:tc>
                <a:extLst>
                  <a:ext uri="{0D108BD9-81ED-4DB2-BD59-A6C34878D82A}">
                    <a16:rowId xmlns:a16="http://schemas.microsoft.com/office/drawing/2014/main" val="623444096"/>
                  </a:ext>
                </a:extLst>
              </a:tr>
              <a:tr h="9817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married_or_partnered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/>
                </a:tc>
                <a:extLst>
                  <a:ext uri="{0D108BD9-81ED-4DB2-BD59-A6C34878D82A}">
                    <a16:rowId xmlns:a16="http://schemas.microsoft.com/office/drawing/2014/main" val="1110208648"/>
                  </a:ext>
                </a:extLst>
              </a:tr>
              <a:tr h="9817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separated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/>
                </a:tc>
                <a:extLst>
                  <a:ext uri="{0D108BD9-81ED-4DB2-BD59-A6C34878D82A}">
                    <a16:rowId xmlns:a16="http://schemas.microsoft.com/office/drawing/2014/main" val="3338105490"/>
                  </a:ext>
                </a:extLst>
              </a:tr>
              <a:tr h="9817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previously_married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/>
                </a:tc>
                <a:extLst>
                  <a:ext uri="{0D108BD9-81ED-4DB2-BD59-A6C34878D82A}">
                    <a16:rowId xmlns:a16="http://schemas.microsoft.com/office/drawing/2014/main" val="600262493"/>
                  </a:ext>
                </a:extLst>
              </a:tr>
              <a:tr h="98174">
                <a:tc rowSpan="4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Профессия (</a:t>
                      </a:r>
                      <a:r>
                        <a:rPr lang="en-US" sz="1600" kern="100" dirty="0">
                          <a:effectLst/>
                        </a:rPr>
                        <a:t>occup08)*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high_skill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/>
                </a:tc>
                <a:extLst>
                  <a:ext uri="{0D108BD9-81ED-4DB2-BD59-A6C34878D82A}">
                    <a16:rowId xmlns:a16="http://schemas.microsoft.com/office/drawing/2014/main" val="3144721984"/>
                  </a:ext>
                </a:extLst>
              </a:tr>
              <a:tr h="9817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mid_skill_white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/>
                </a:tc>
                <a:extLst>
                  <a:ext uri="{0D108BD9-81ED-4DB2-BD59-A6C34878D82A}">
                    <a16:rowId xmlns:a16="http://schemas.microsoft.com/office/drawing/2014/main" val="993397722"/>
                  </a:ext>
                </a:extLst>
              </a:tr>
              <a:tr h="9817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skilled_blue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/>
                </a:tc>
                <a:extLst>
                  <a:ext uri="{0D108BD9-81ED-4DB2-BD59-A6C34878D82A}">
                    <a16:rowId xmlns:a16="http://schemas.microsoft.com/office/drawing/2014/main" val="2461255389"/>
                  </a:ext>
                </a:extLst>
              </a:tr>
              <a:tr h="9817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low_skill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/>
                </a:tc>
                <a:extLst>
                  <a:ext uri="{0D108BD9-81ED-4DB2-BD59-A6C34878D82A}">
                    <a16:rowId xmlns:a16="http://schemas.microsoft.com/office/drawing/2014/main" val="1252059951"/>
                  </a:ext>
                </a:extLst>
              </a:tr>
              <a:tr h="98174">
                <a:tc rowSpan="6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</a:rPr>
                        <a:t>Отрасль работы (</a:t>
                      </a:r>
                      <a:r>
                        <a:rPr lang="en-US" sz="1600" kern="100" dirty="0">
                          <a:effectLst/>
                        </a:rPr>
                        <a:t>j4.1)*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manufacturing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/>
                </a:tc>
                <a:extLst>
                  <a:ext uri="{0D108BD9-81ED-4DB2-BD59-A6C34878D82A}">
                    <a16:rowId xmlns:a16="http://schemas.microsoft.com/office/drawing/2014/main" val="3765957646"/>
                  </a:ext>
                </a:extLst>
              </a:tr>
              <a:tr h="9817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construction_transport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/>
                </a:tc>
                <a:extLst>
                  <a:ext uri="{0D108BD9-81ED-4DB2-BD59-A6C34878D82A}">
                    <a16:rowId xmlns:a16="http://schemas.microsoft.com/office/drawing/2014/main" val="1556603118"/>
                  </a:ext>
                </a:extLst>
              </a:tr>
              <a:tr h="9817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public_sector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/>
                </a:tc>
                <a:extLst>
                  <a:ext uri="{0D108BD9-81ED-4DB2-BD59-A6C34878D82A}">
                    <a16:rowId xmlns:a16="http://schemas.microsoft.com/office/drawing/2014/main" val="3909638145"/>
                  </a:ext>
                </a:extLst>
              </a:tr>
              <a:tr h="9817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trade_services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/>
                </a:tc>
                <a:extLst>
                  <a:ext uri="{0D108BD9-81ED-4DB2-BD59-A6C34878D82A}">
                    <a16:rowId xmlns:a16="http://schemas.microsoft.com/office/drawing/2014/main" val="3966071848"/>
                  </a:ext>
                </a:extLst>
              </a:tr>
              <a:tr h="9817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finance_it_media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/>
                </a:tc>
                <a:extLst>
                  <a:ext uri="{0D108BD9-81ED-4DB2-BD59-A6C34878D82A}">
                    <a16:rowId xmlns:a16="http://schemas.microsoft.com/office/drawing/2014/main" val="3323466823"/>
                  </a:ext>
                </a:extLst>
              </a:tr>
              <a:tr h="9817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</a:rPr>
                        <a:t>other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/>
                </a:tc>
                <a:extLst>
                  <a:ext uri="{0D108BD9-81ED-4DB2-BD59-A6C34878D82A}">
                    <a16:rowId xmlns:a16="http://schemas.microsoft.com/office/drawing/2014/main" val="1044362287"/>
                  </a:ext>
                </a:extLst>
              </a:tr>
              <a:tr h="49087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Опасность</a:t>
                      </a:r>
                      <a:r>
                        <a:rPr lang="en-US" sz="1600" kern="100" dirty="0">
                          <a:effectLst/>
                        </a:rPr>
                        <a:t> </a:t>
                      </a:r>
                      <a:r>
                        <a:rPr lang="en-US" sz="1600" kern="100" dirty="0" err="1">
                          <a:effectLst/>
                        </a:rPr>
                        <a:t>производства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 dirty="0">
                          <a:effectLst/>
                        </a:rPr>
                        <a:t>danger (j21.3)*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55" marR="41555" marT="0" marB="0"/>
                </a:tc>
                <a:extLst>
                  <a:ext uri="{0D108BD9-81ED-4DB2-BD59-A6C34878D82A}">
                    <a16:rowId xmlns:a16="http://schemas.microsoft.com/office/drawing/2014/main" val="1785428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154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C3E2-8612-D6B9-0D19-C6E6891B2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F1BF83-A23F-EDCF-6E66-B3B3CF7B4182}"/>
              </a:ext>
            </a:extLst>
          </p:cNvPr>
          <p:cNvSpPr txBox="1"/>
          <p:nvPr/>
        </p:nvSpPr>
        <p:spPr>
          <a:xfrm>
            <a:off x="1042988" y="244575"/>
            <a:ext cx="852475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Регрессионная зависимость заработной платы от объясняющих переменных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4F663A-12C3-85E7-F15A-AAC2E81B7536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00571C-4EF9-DD5D-A0D0-F6E84955068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8289" y="1542233"/>
            <a:ext cx="6112185" cy="404025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E47817-5CFA-21CA-4AF7-B1298513FC9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80175" y="1548743"/>
            <a:ext cx="6092486" cy="402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5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51307-0E2D-1C5C-34A2-AEB3198E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7EC47F-5DD8-0784-B58A-C2E892B8BBA6}"/>
              </a:ext>
            </a:extLst>
          </p:cNvPr>
          <p:cNvSpPr txBox="1"/>
          <p:nvPr/>
        </p:nvSpPr>
        <p:spPr>
          <a:xfrm>
            <a:off x="1042988" y="244575"/>
            <a:ext cx="618194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Исходное распределение доходов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2331A-7864-D296-A8A7-CD488471114B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9E6634EA-C670-6C81-4893-251471FD742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76512" y="818279"/>
            <a:ext cx="7807325" cy="520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8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188F6-91A7-F02F-F6DD-D46C98654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BAFE7A-1AD0-21F6-FBB4-0786AB6FE608}"/>
              </a:ext>
            </a:extLst>
          </p:cNvPr>
          <p:cNvSpPr txBox="1"/>
          <p:nvPr/>
        </p:nvSpPr>
        <p:spPr>
          <a:xfrm>
            <a:off x="1042988" y="244575"/>
            <a:ext cx="824430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Логарифмированное распределение доходов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3C58A5-A6C0-7221-62AF-D946E790EC9D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4583A9-ADA6-3B4B-3F4A-109461CF4E0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01762" y="810778"/>
            <a:ext cx="8356826" cy="557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45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DD4E4-0CEB-E0AA-D87E-ED387E931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0AC3F2-2E4D-6E4E-C9E6-2A749A2B9466}"/>
              </a:ext>
            </a:extLst>
          </p:cNvPr>
          <p:cNvSpPr txBox="1"/>
          <p:nvPr/>
        </p:nvSpPr>
        <p:spPr>
          <a:xfrm>
            <a:off x="1042988" y="244575"/>
            <a:ext cx="9150879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Проверка </a:t>
            </a:r>
            <a:r>
              <a:rPr lang="ru-RU" sz="2800" b="1" dirty="0" err="1">
                <a:solidFill>
                  <a:srgbClr val="BE003E"/>
                </a:solidFill>
                <a:latin typeface="Arial"/>
                <a:cs typeface="Arial"/>
              </a:rPr>
              <a:t>гетероскедастичности</a:t>
            </a:r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 и корректности функциональной формы модели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EAC36-5F8A-3E11-6D48-4B76CAA0C4E6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20DBA7C-27C4-747E-9FFA-89B71F86E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137576"/>
              </p:ext>
            </p:extLst>
          </p:nvPr>
        </p:nvGraphicFramePr>
        <p:xfrm>
          <a:off x="600116" y="2688749"/>
          <a:ext cx="11489937" cy="1436555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3181119">
                  <a:extLst>
                    <a:ext uri="{9D8B030D-6E8A-4147-A177-3AD203B41FA5}">
                      <a16:colId xmlns:a16="http://schemas.microsoft.com/office/drawing/2014/main" val="587274525"/>
                    </a:ext>
                  </a:extLst>
                </a:gridCol>
                <a:gridCol w="3181119">
                  <a:extLst>
                    <a:ext uri="{9D8B030D-6E8A-4147-A177-3AD203B41FA5}">
                      <a16:colId xmlns:a16="http://schemas.microsoft.com/office/drawing/2014/main" val="359994700"/>
                    </a:ext>
                  </a:extLst>
                </a:gridCol>
                <a:gridCol w="2652387">
                  <a:extLst>
                    <a:ext uri="{9D8B030D-6E8A-4147-A177-3AD203B41FA5}">
                      <a16:colId xmlns:a16="http://schemas.microsoft.com/office/drawing/2014/main" val="1612019007"/>
                    </a:ext>
                  </a:extLst>
                </a:gridCol>
                <a:gridCol w="2475312">
                  <a:extLst>
                    <a:ext uri="{9D8B030D-6E8A-4147-A177-3AD203B41FA5}">
                      <a16:colId xmlns:a16="http://schemas.microsoft.com/office/drawing/2014/main" val="3011665593"/>
                    </a:ext>
                  </a:extLst>
                </a:gridCol>
              </a:tblGrid>
              <a:tr h="71827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200" kern="0" dirty="0">
                          <a:effectLst/>
                        </a:rPr>
                        <a:t>Зависимая переменная</a:t>
                      </a:r>
                      <a:endParaRPr lang="ru-RU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677" marR="134677" marT="0" marB="0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200" kern="0" dirty="0" err="1">
                          <a:effectLst/>
                        </a:rPr>
                        <a:t>Breusch</a:t>
                      </a:r>
                      <a:r>
                        <a:rPr lang="ru-RU" sz="2200" kern="0" dirty="0">
                          <a:effectLst/>
                        </a:rPr>
                        <a:t>–</a:t>
                      </a:r>
                      <a:r>
                        <a:rPr lang="ru-RU" sz="2200" kern="0" dirty="0" err="1">
                          <a:effectLst/>
                        </a:rPr>
                        <a:t>Pagan</a:t>
                      </a:r>
                      <a:r>
                        <a:rPr lang="ru-RU" sz="2200" kern="0" dirty="0">
                          <a:effectLst/>
                        </a:rPr>
                        <a:t> (</a:t>
                      </a:r>
                      <a:r>
                        <a:rPr lang="ru-RU" sz="2200" kern="0" dirty="0" err="1">
                          <a:effectLst/>
                        </a:rPr>
                        <a:t>p-value</a:t>
                      </a:r>
                      <a:r>
                        <a:rPr lang="ru-RU" sz="2200" kern="0" dirty="0">
                          <a:effectLst/>
                        </a:rPr>
                        <a:t>)</a:t>
                      </a:r>
                      <a:endParaRPr lang="ru-RU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677" marR="134677" marT="0" marB="0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200" kern="0" dirty="0">
                          <a:effectLst/>
                        </a:rPr>
                        <a:t>White (</a:t>
                      </a:r>
                      <a:r>
                        <a:rPr lang="ru-RU" sz="2200" kern="0" dirty="0" err="1">
                          <a:effectLst/>
                        </a:rPr>
                        <a:t>p-value</a:t>
                      </a:r>
                      <a:r>
                        <a:rPr lang="ru-RU" sz="2200" kern="0" dirty="0">
                          <a:effectLst/>
                        </a:rPr>
                        <a:t>)</a:t>
                      </a:r>
                      <a:endParaRPr lang="ru-RU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677" marR="134677" marT="0" marB="0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200" kern="0" dirty="0">
                          <a:effectLst/>
                        </a:rPr>
                        <a:t>RESET (</a:t>
                      </a:r>
                      <a:r>
                        <a:rPr lang="ru-RU" sz="2200" kern="0" dirty="0" err="1">
                          <a:effectLst/>
                        </a:rPr>
                        <a:t>p-value</a:t>
                      </a:r>
                      <a:r>
                        <a:rPr lang="ru-RU" sz="2200" kern="0" dirty="0">
                          <a:effectLst/>
                        </a:rPr>
                        <a:t>)</a:t>
                      </a:r>
                      <a:endParaRPr lang="ru-RU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677" marR="134677" marT="0" marB="0">
                    <a:solidFill>
                      <a:srgbClr val="BE0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4871"/>
                  </a:ext>
                </a:extLst>
              </a:tr>
              <a:tr h="35913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200" kern="0">
                          <a:effectLst/>
                        </a:rPr>
                        <a:t>wage</a:t>
                      </a:r>
                      <a:endParaRPr lang="ru-RU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677" marR="134677" marT="0" marB="0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200" kern="0" dirty="0">
                          <a:effectLst/>
                        </a:rPr>
                        <a:t>0.000</a:t>
                      </a:r>
                      <a:endParaRPr lang="ru-RU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677" marR="134677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200" kern="0">
                          <a:effectLst/>
                        </a:rPr>
                        <a:t>0.013</a:t>
                      </a:r>
                      <a:endParaRPr lang="ru-RU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677" marR="134677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200" kern="0">
                          <a:effectLst/>
                        </a:rPr>
                        <a:t>0.132</a:t>
                      </a:r>
                      <a:endParaRPr lang="ru-RU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677" marR="134677" marT="0" marB="0"/>
                </a:tc>
                <a:extLst>
                  <a:ext uri="{0D108BD9-81ED-4DB2-BD59-A6C34878D82A}">
                    <a16:rowId xmlns:a16="http://schemas.microsoft.com/office/drawing/2014/main" val="2706684753"/>
                  </a:ext>
                </a:extLst>
              </a:tr>
              <a:tr h="35913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200" kern="0" dirty="0" err="1">
                          <a:effectLst/>
                        </a:rPr>
                        <a:t>ln</a:t>
                      </a:r>
                      <a:r>
                        <a:rPr lang="ru-RU" sz="2200" kern="0" dirty="0">
                          <a:effectLst/>
                        </a:rPr>
                        <a:t>(</a:t>
                      </a:r>
                      <a:r>
                        <a:rPr lang="ru-RU" sz="2200" kern="0" dirty="0" err="1">
                          <a:effectLst/>
                        </a:rPr>
                        <a:t>wage</a:t>
                      </a:r>
                      <a:r>
                        <a:rPr lang="ru-RU" sz="2200" kern="0" dirty="0">
                          <a:effectLst/>
                        </a:rPr>
                        <a:t>)</a:t>
                      </a:r>
                      <a:endParaRPr lang="ru-RU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677" marR="134677" marT="0" marB="0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200" kern="0">
                          <a:effectLst/>
                        </a:rPr>
                        <a:t>0.011</a:t>
                      </a:r>
                      <a:endParaRPr lang="ru-RU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677" marR="134677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200" kern="0">
                          <a:effectLst/>
                        </a:rPr>
                        <a:t>0.004</a:t>
                      </a:r>
                      <a:endParaRPr lang="ru-RU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677" marR="134677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200" kern="0" dirty="0">
                          <a:effectLst/>
                        </a:rPr>
                        <a:t>0.001</a:t>
                      </a:r>
                      <a:endParaRPr lang="ru-RU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4677" marR="134677" marT="0" marB="0"/>
                </a:tc>
                <a:extLst>
                  <a:ext uri="{0D108BD9-81ED-4DB2-BD59-A6C34878D82A}">
                    <a16:rowId xmlns:a16="http://schemas.microsoft.com/office/drawing/2014/main" val="1091046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6181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28261-F904-D651-AA0A-FF54334BC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23BAD6-9E86-8134-A925-B0DA07D26903}"/>
              </a:ext>
            </a:extLst>
          </p:cNvPr>
          <p:cNvSpPr txBox="1"/>
          <p:nvPr/>
        </p:nvSpPr>
        <p:spPr>
          <a:xfrm>
            <a:off x="1042988" y="244575"/>
            <a:ext cx="590257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Оцениваемые модели регрессии</a:t>
            </a:r>
            <a:endParaRPr lang="en-US" sz="2800" b="1" dirty="0">
              <a:solidFill>
                <a:srgbClr val="BE003E"/>
              </a:solidFill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3CBB6-77CF-18A1-588A-048D351D12D1}"/>
              </a:ext>
            </a:extLst>
          </p:cNvPr>
          <p:cNvSpPr txBox="1"/>
          <p:nvPr/>
        </p:nvSpPr>
        <p:spPr>
          <a:xfrm>
            <a:off x="516989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732B4EF-8731-9050-2B3D-CC2F421EAC7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5170" y="989470"/>
            <a:ext cx="10454147" cy="429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BA1E576-6A43-C1F6-D985-A9A04A022B8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6989" y="1543185"/>
            <a:ext cx="7330118" cy="1461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7651DF8-4B90-C53B-7E38-427AFE7FAA1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9015" y="2876201"/>
            <a:ext cx="7330118" cy="1972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703D761-7AD5-31AC-65C2-40D156938B9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1041" y="4738338"/>
            <a:ext cx="8934746" cy="1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03176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F087F-4094-D378-F508-8CF84E5C5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5B462C-013D-8ACA-EEEB-5E6824497601}"/>
              </a:ext>
            </a:extLst>
          </p:cNvPr>
          <p:cNvSpPr txBox="1"/>
          <p:nvPr/>
        </p:nvSpPr>
        <p:spPr>
          <a:xfrm>
            <a:off x="1042988" y="244575"/>
            <a:ext cx="590257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Оцениваемые модели регрессии</a:t>
            </a:r>
            <a:endParaRPr lang="en-US" sz="2800" b="1" dirty="0">
              <a:solidFill>
                <a:srgbClr val="BE003E"/>
              </a:solidFill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C9B9AA-8247-A91F-A683-254E27104CAC}"/>
              </a:ext>
            </a:extLst>
          </p:cNvPr>
          <p:cNvSpPr txBox="1"/>
          <p:nvPr/>
        </p:nvSpPr>
        <p:spPr>
          <a:xfrm>
            <a:off x="53915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013E52A-E02A-553C-8ABA-D38A23B18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023218"/>
              </p:ext>
            </p:extLst>
          </p:nvPr>
        </p:nvGraphicFramePr>
        <p:xfrm>
          <a:off x="242417" y="1317149"/>
          <a:ext cx="6046087" cy="420624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951269">
                  <a:extLst>
                    <a:ext uri="{9D8B030D-6E8A-4147-A177-3AD203B41FA5}">
                      <a16:colId xmlns:a16="http://schemas.microsoft.com/office/drawing/2014/main" val="4005969495"/>
                    </a:ext>
                  </a:extLst>
                </a:gridCol>
                <a:gridCol w="1072091">
                  <a:extLst>
                    <a:ext uri="{9D8B030D-6E8A-4147-A177-3AD203B41FA5}">
                      <a16:colId xmlns:a16="http://schemas.microsoft.com/office/drawing/2014/main" val="1389090506"/>
                    </a:ext>
                  </a:extLst>
                </a:gridCol>
                <a:gridCol w="1072091">
                  <a:extLst>
                    <a:ext uri="{9D8B030D-6E8A-4147-A177-3AD203B41FA5}">
                      <a16:colId xmlns:a16="http://schemas.microsoft.com/office/drawing/2014/main" val="470021455"/>
                    </a:ext>
                  </a:extLst>
                </a:gridCol>
                <a:gridCol w="986071">
                  <a:extLst>
                    <a:ext uri="{9D8B030D-6E8A-4147-A177-3AD203B41FA5}">
                      <a16:colId xmlns:a16="http://schemas.microsoft.com/office/drawing/2014/main" val="1729848070"/>
                    </a:ext>
                  </a:extLst>
                </a:gridCol>
                <a:gridCol w="964565">
                  <a:extLst>
                    <a:ext uri="{9D8B030D-6E8A-4147-A177-3AD203B41FA5}">
                      <a16:colId xmlns:a16="http://schemas.microsoft.com/office/drawing/2014/main" val="1783764658"/>
                    </a:ext>
                  </a:extLst>
                </a:gridCol>
              </a:tblGrid>
              <a:tr h="1818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Переменная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M1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M2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M3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M4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136341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 err="1">
                          <a:effectLst/>
                        </a:rPr>
                        <a:t>female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−0.2731***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(0.0318)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−0.2733***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(0.0436)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−0.2682***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(0.0419)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−0.2234***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(0.0421)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3945952587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year_2024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0.1583***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(0.0311)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0.1442***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(0.0451)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0.1258***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(0.0446)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0.1326***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(0.0427)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3975458393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female × year_2024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−0.0020 (0.0598)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0.0043 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(0.0579)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0.0208 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(0.0562)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2975788302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age_c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−0.0047***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(0.0013)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−0.0020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(0.0013)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−0.0025**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(0.0012)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−0.0041***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(0.0014)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2003646853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age_c²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−0.0005***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(0.0001)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−0.0005***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(0.0001)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−0.0004***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(0.0001)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1456723980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edu_secondary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0.2257***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(0.0698)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0.1941***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(0.0677)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0.1796***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0.0690)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0.1840**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(0.0721)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3565542089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edu_vocational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0.2731***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(0.0704)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0.2531***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(0.0678)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0.2508***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(0.0691)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0.2445***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(0.0731)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3434544465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edu_higher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0.4708***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(0.0697)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0.4269***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(0.0677)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0.4379***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(0.0700)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0.4267***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(0.0743)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817055525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0">
                          <a:effectLst/>
                        </a:rPr>
                        <a:t>hours of work per week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0.0079***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(0.0018)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0.0068***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(0.0018)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0.0080***(0.0019)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0.0081***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(0.0021)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1533466021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danger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0.1393***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(0.0467)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0.1736***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(0.0463)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1119633472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 err="1">
                          <a:effectLst/>
                        </a:rPr>
                        <a:t>spb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0.2283***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(0.0301)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0.2254***</a:t>
                      </a:r>
                      <a:endParaRPr lang="ru-RU" sz="12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(0.0296)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3844100548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0BC7E44-A744-8289-C698-5BF0EFA53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929503"/>
              </p:ext>
            </p:extLst>
          </p:nvPr>
        </p:nvGraphicFramePr>
        <p:xfrm>
          <a:off x="6671848" y="1317149"/>
          <a:ext cx="5643835" cy="3997683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821449">
                  <a:extLst>
                    <a:ext uri="{9D8B030D-6E8A-4147-A177-3AD203B41FA5}">
                      <a16:colId xmlns:a16="http://schemas.microsoft.com/office/drawing/2014/main" val="79242936"/>
                    </a:ext>
                  </a:extLst>
                </a:gridCol>
                <a:gridCol w="1000764">
                  <a:extLst>
                    <a:ext uri="{9D8B030D-6E8A-4147-A177-3AD203B41FA5}">
                      <a16:colId xmlns:a16="http://schemas.microsoft.com/office/drawing/2014/main" val="1316038587"/>
                    </a:ext>
                  </a:extLst>
                </a:gridCol>
                <a:gridCol w="1000764">
                  <a:extLst>
                    <a:ext uri="{9D8B030D-6E8A-4147-A177-3AD203B41FA5}">
                      <a16:colId xmlns:a16="http://schemas.microsoft.com/office/drawing/2014/main" val="4161879128"/>
                    </a:ext>
                  </a:extLst>
                </a:gridCol>
                <a:gridCol w="920467">
                  <a:extLst>
                    <a:ext uri="{9D8B030D-6E8A-4147-A177-3AD203B41FA5}">
                      <a16:colId xmlns:a16="http://schemas.microsoft.com/office/drawing/2014/main" val="719440617"/>
                    </a:ext>
                  </a:extLst>
                </a:gridCol>
                <a:gridCol w="900391">
                  <a:extLst>
                    <a:ext uri="{9D8B030D-6E8A-4147-A177-3AD203B41FA5}">
                      <a16:colId xmlns:a16="http://schemas.microsoft.com/office/drawing/2014/main" val="3514105087"/>
                    </a:ext>
                  </a:extLst>
                </a:gridCol>
              </a:tblGrid>
              <a:tr h="3400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Переменная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M1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M2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M3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M4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885049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owner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0.2663**</a:t>
                      </a:r>
                      <a:endParaRPr lang="ru-RU" sz="12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(0.1253)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1892023898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0">
                          <a:effectLst/>
                        </a:rPr>
                        <a:t>edu_higher × fin/IT/media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0.2167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(0.1477)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3850591816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ind_finance_it_media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0.0602</a:t>
                      </a:r>
                      <a:endParaRPr lang="ru-RU" sz="12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(0.0771)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−0.0347</a:t>
                      </a:r>
                      <a:endParaRPr lang="ru-RU" sz="12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(0.1118)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−0.0358</a:t>
                      </a:r>
                      <a:endParaRPr lang="ru-RU" sz="12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(0.0768)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1600558831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ind_public_sector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−0.2138***</a:t>
                      </a:r>
                      <a:endParaRPr lang="ru-RU" sz="12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(0.0350)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2992193462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ind_trade_services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−0.1358***</a:t>
                      </a:r>
                      <a:endParaRPr lang="ru-RU" sz="12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(0.0401)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920660132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marst_married_or_partnered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0.1260***</a:t>
                      </a:r>
                      <a:endParaRPr lang="ru-RU" sz="12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(0.0411)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2115134903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marst_previously_married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0.0741</a:t>
                      </a:r>
                      <a:endParaRPr lang="ru-RU" sz="12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(0.0548)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839810203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occup_mid_skill_white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−0.0713*</a:t>
                      </a:r>
                      <a:endParaRPr lang="ru-RU" sz="12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(0.0393)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1783986893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occup_skilled_blue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−0.1102***</a:t>
                      </a:r>
                      <a:endParaRPr lang="ru-RU" sz="12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(0.0407)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2552348236"/>
                  </a:ext>
                </a:extLst>
              </a:tr>
              <a:tr h="363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 err="1">
                          <a:effectLst/>
                        </a:rPr>
                        <a:t>const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9.7199***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(0.1074)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9.8886***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(0.1107)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9.7004***</a:t>
                      </a:r>
                      <a:endParaRPr lang="ru-RU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>
                          <a:effectLst/>
                        </a:rPr>
                        <a:t>(0.1195)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9.7017***</a:t>
                      </a:r>
                      <a:endParaRPr lang="ru-RU" sz="12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ru-RU" sz="1200" kern="0" dirty="0">
                          <a:effectLst/>
                        </a:rPr>
                        <a:t>(0.1283)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765" marR="63765" marT="0" marB="0" anchor="ctr"/>
                </a:tc>
                <a:extLst>
                  <a:ext uri="{0D108BD9-81ED-4DB2-BD59-A6C34878D82A}">
                    <a16:rowId xmlns:a16="http://schemas.microsoft.com/office/drawing/2014/main" val="3260573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591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089EF-E11B-7314-0BEB-C83A62A2D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565B4C-FE83-9911-0152-FA9C35253098}"/>
              </a:ext>
            </a:extLst>
          </p:cNvPr>
          <p:cNvSpPr txBox="1"/>
          <p:nvPr/>
        </p:nvSpPr>
        <p:spPr>
          <a:xfrm>
            <a:off x="1042988" y="244575"/>
            <a:ext cx="718805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2800" b="1" dirty="0">
                <a:solidFill>
                  <a:srgbClr val="BE00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Проверка предпосылок Гаусса-Маркова</a:t>
            </a:r>
            <a:endParaRPr lang="ru-RU" sz="2800" dirty="0">
              <a:solidFill>
                <a:srgbClr val="BE00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DCE0B6-E418-C5F3-D538-B079714CB737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F669286-B53D-1E97-6F85-F1D66CF5C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648499"/>
              </p:ext>
            </p:extLst>
          </p:nvPr>
        </p:nvGraphicFramePr>
        <p:xfrm>
          <a:off x="600116" y="1921011"/>
          <a:ext cx="11965259" cy="2998515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214619">
                  <a:extLst>
                    <a:ext uri="{9D8B030D-6E8A-4147-A177-3AD203B41FA5}">
                      <a16:colId xmlns:a16="http://schemas.microsoft.com/office/drawing/2014/main" val="2321826607"/>
                    </a:ext>
                  </a:extLst>
                </a:gridCol>
                <a:gridCol w="750318">
                  <a:extLst>
                    <a:ext uri="{9D8B030D-6E8A-4147-A177-3AD203B41FA5}">
                      <a16:colId xmlns:a16="http://schemas.microsoft.com/office/drawing/2014/main" val="658410728"/>
                    </a:ext>
                  </a:extLst>
                </a:gridCol>
                <a:gridCol w="966003">
                  <a:extLst>
                    <a:ext uri="{9D8B030D-6E8A-4147-A177-3AD203B41FA5}">
                      <a16:colId xmlns:a16="http://schemas.microsoft.com/office/drawing/2014/main" val="3436999662"/>
                    </a:ext>
                  </a:extLst>
                </a:gridCol>
                <a:gridCol w="1006232">
                  <a:extLst>
                    <a:ext uri="{9D8B030D-6E8A-4147-A177-3AD203B41FA5}">
                      <a16:colId xmlns:a16="http://schemas.microsoft.com/office/drawing/2014/main" val="1071922009"/>
                    </a:ext>
                  </a:extLst>
                </a:gridCol>
                <a:gridCol w="1309978">
                  <a:extLst>
                    <a:ext uri="{9D8B030D-6E8A-4147-A177-3AD203B41FA5}">
                      <a16:colId xmlns:a16="http://schemas.microsoft.com/office/drawing/2014/main" val="3505199313"/>
                    </a:ext>
                  </a:extLst>
                </a:gridCol>
                <a:gridCol w="1638856">
                  <a:extLst>
                    <a:ext uri="{9D8B030D-6E8A-4147-A177-3AD203B41FA5}">
                      <a16:colId xmlns:a16="http://schemas.microsoft.com/office/drawing/2014/main" val="1344279412"/>
                    </a:ext>
                  </a:extLst>
                </a:gridCol>
                <a:gridCol w="1767340">
                  <a:extLst>
                    <a:ext uri="{9D8B030D-6E8A-4147-A177-3AD203B41FA5}">
                      <a16:colId xmlns:a16="http://schemas.microsoft.com/office/drawing/2014/main" val="3491089236"/>
                    </a:ext>
                  </a:extLst>
                </a:gridCol>
                <a:gridCol w="1773044">
                  <a:extLst>
                    <a:ext uri="{9D8B030D-6E8A-4147-A177-3AD203B41FA5}">
                      <a16:colId xmlns:a16="http://schemas.microsoft.com/office/drawing/2014/main" val="410733722"/>
                    </a:ext>
                  </a:extLst>
                </a:gridCol>
                <a:gridCol w="1538869">
                  <a:extLst>
                    <a:ext uri="{9D8B030D-6E8A-4147-A177-3AD203B41FA5}">
                      <a16:colId xmlns:a16="http://schemas.microsoft.com/office/drawing/2014/main" val="4006621140"/>
                    </a:ext>
                  </a:extLst>
                </a:gridCol>
              </a:tblGrid>
              <a:tr h="599703">
                <a:tc>
                  <a:txBody>
                    <a:bodyPr/>
                    <a:lstStyle/>
                    <a:p>
                      <a:pPr marL="11113" indent="0" algn="ctr">
                        <a:buNone/>
                        <a:tabLst>
                          <a:tab pos="835025" algn="l"/>
                        </a:tabLst>
                      </a:pPr>
                      <a:r>
                        <a:rPr lang="ru-RU" sz="2000" kern="0" dirty="0">
                          <a:effectLst/>
                        </a:rPr>
                        <a:t>Модель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 dirty="0" err="1">
                          <a:effectLst/>
                        </a:rPr>
                        <a:t>N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 dirty="0">
                          <a:effectLst/>
                        </a:rPr>
                        <a:t>R²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Adj. R²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 dirty="0" err="1">
                          <a:effectLst/>
                        </a:rPr>
                        <a:t>Rank_full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BP p-value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 dirty="0">
                          <a:effectLst/>
                        </a:rPr>
                        <a:t>White </a:t>
                      </a:r>
                      <a:r>
                        <a:rPr lang="ru-RU" sz="2000" kern="0" dirty="0" err="1">
                          <a:effectLst/>
                        </a:rPr>
                        <a:t>p-value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 dirty="0">
                          <a:effectLst/>
                        </a:rPr>
                        <a:t>RESET </a:t>
                      </a:r>
                      <a:r>
                        <a:rPr lang="ru-RU" sz="2000" kern="0" dirty="0" err="1">
                          <a:effectLst/>
                        </a:rPr>
                        <a:t>p-value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 dirty="0">
                          <a:effectLst/>
                        </a:rPr>
                        <a:t>Max VIF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>
                    <a:solidFill>
                      <a:srgbClr val="BE0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694779"/>
                  </a:ext>
                </a:extLst>
              </a:tr>
              <a:tr h="599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M1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851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0.2018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0.1951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Да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0.0078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0.0053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0.0490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9.68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extLst>
                  <a:ext uri="{0D108BD9-81ED-4DB2-BD59-A6C34878D82A}">
                    <a16:rowId xmlns:a16="http://schemas.microsoft.com/office/drawing/2014/main" val="4150554303"/>
                  </a:ext>
                </a:extLst>
              </a:tr>
              <a:tr h="599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M2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851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0.2378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0.2287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 dirty="0">
                          <a:effectLst/>
                        </a:rPr>
                        <a:t>Да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0.0065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0.0093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0.5297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10.02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extLst>
                  <a:ext uri="{0D108BD9-81ED-4DB2-BD59-A6C34878D82A}">
                    <a16:rowId xmlns:a16="http://schemas.microsoft.com/office/drawing/2014/main" val="2119070525"/>
                  </a:ext>
                </a:extLst>
              </a:tr>
              <a:tr h="599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M3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851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0.2935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0.2825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Да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0.0229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0.0018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0.0036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10.03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extLst>
                  <a:ext uri="{0D108BD9-81ED-4DB2-BD59-A6C34878D82A}">
                    <a16:rowId xmlns:a16="http://schemas.microsoft.com/office/drawing/2014/main" val="3749532982"/>
                  </a:ext>
                </a:extLst>
              </a:tr>
              <a:tr h="599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 dirty="0">
                          <a:effectLst/>
                        </a:rPr>
                        <a:t>M4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>
                    <a:solidFill>
                      <a:srgbClr val="BE00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851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0.3375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0.3223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Да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0.0858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0.0002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>
                          <a:effectLst/>
                        </a:rPr>
                        <a:t>0.0518</a:t>
                      </a:r>
                      <a:endParaRPr lang="ru-RU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kern="0" dirty="0">
                          <a:effectLst/>
                        </a:rPr>
                        <a:t>11.89</a:t>
                      </a:r>
                      <a:endParaRPr lang="ru-RU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2444" marR="112444" marT="0" marB="0" anchor="ctr"/>
                </a:tc>
                <a:extLst>
                  <a:ext uri="{0D108BD9-81ED-4DB2-BD59-A6C34878D82A}">
                    <a16:rowId xmlns:a16="http://schemas.microsoft.com/office/drawing/2014/main" val="1538949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748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857B6-9788-ED11-96A8-3B2CB5A6E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7DBDA8-5461-00D3-A6A8-7082C18BA263}"/>
              </a:ext>
            </a:extLst>
          </p:cNvPr>
          <p:cNvSpPr txBox="1"/>
          <p:nvPr/>
        </p:nvSpPr>
        <p:spPr>
          <a:xfrm>
            <a:off x="1042988" y="244575"/>
            <a:ext cx="309251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Итоговая модель</a:t>
            </a:r>
            <a:endParaRPr lang="en-US" sz="2800" b="1" dirty="0">
              <a:solidFill>
                <a:srgbClr val="BE003E"/>
              </a:solidFill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BAEDF6-34C1-BB23-9ED6-A554CB6FE1BB}"/>
              </a:ext>
            </a:extLst>
          </p:cNvPr>
          <p:cNvSpPr txBox="1"/>
          <p:nvPr/>
        </p:nvSpPr>
        <p:spPr>
          <a:xfrm>
            <a:off x="53915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D8872D-3496-0D61-0283-764626728D3C}"/>
              </a:ext>
            </a:extLst>
          </p:cNvPr>
          <p:cNvSpPr txBox="1"/>
          <p:nvPr/>
        </p:nvSpPr>
        <p:spPr>
          <a:xfrm>
            <a:off x="539156" y="3961287"/>
            <a:ext cx="12179317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Модель объясняет 33,8% вариации логарифма заработной платы</a:t>
            </a:r>
            <a:r>
              <a:rPr lang="ru-RU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ru-RU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Adj</a:t>
            </a:r>
            <a:r>
              <a:rPr 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R² = 0.322) 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Коэффициент при переменной </a:t>
            </a:r>
            <a:r>
              <a:rPr lang="ru-RU" sz="2000" kern="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female</a:t>
            </a:r>
            <a:r>
              <a:rPr lang="ru-RU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равен −0.223 и статистически значим на уровне 1%.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Заработная плата женщин в среднем ниже заработной платы мужчин примерно на 100⋅(e</a:t>
            </a:r>
            <a:r>
              <a:rPr lang="ru-RU" sz="2000" kern="0" baseline="30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-0.223 </a:t>
            </a:r>
            <a:r>
              <a:rPr lang="ru-RU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−1)≈−20.0% 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kern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638FC5-3F50-EE8F-5C42-C1B53223B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56" y="1120645"/>
            <a:ext cx="11594812" cy="256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167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94990-F5A9-CDCF-C440-5BE620D4F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394711-AD30-BB2D-B84C-D23338B48F81}"/>
              </a:ext>
            </a:extLst>
          </p:cNvPr>
          <p:cNvSpPr txBox="1"/>
          <p:nvPr/>
        </p:nvSpPr>
        <p:spPr>
          <a:xfrm>
            <a:off x="1042988" y="244575"/>
            <a:ext cx="681475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Разрыв в средних заработных платах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8F0304-1B31-95EE-9FC6-385538EB445F}"/>
              </a:ext>
            </a:extLst>
          </p:cNvPr>
          <p:cNvSpPr txBox="1"/>
          <p:nvPr/>
        </p:nvSpPr>
        <p:spPr>
          <a:xfrm>
            <a:off x="502145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365F8E-B854-5698-3A38-2FD0BEB370C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72970" y="901223"/>
            <a:ext cx="8814410" cy="569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06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1650DA2-9DD9-C801-FC5D-C65322C76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520" y="0"/>
            <a:ext cx="4189830" cy="684053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E64B838-4872-43A7-3ECD-CEE1F87DE8B3}"/>
              </a:ext>
            </a:extLst>
          </p:cNvPr>
          <p:cNvSpPr txBox="1"/>
          <p:nvPr/>
        </p:nvSpPr>
        <p:spPr>
          <a:xfrm>
            <a:off x="1604408" y="2923532"/>
            <a:ext cx="566038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9B13A7-08E0-8CB3-E315-300BD9869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" y="329339"/>
            <a:ext cx="1862895" cy="82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8808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862</TotalTime>
  <Words>873</Words>
  <Application>Microsoft Office PowerPoint</Application>
  <PresentationFormat>Произвольный</PresentationFormat>
  <Paragraphs>296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Тема Office</vt:lpstr>
      <vt:lpstr>Проектная работа по курсу «Эконометрика-1» «Исследование гендерного разрыва в заработанных платах»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Ксения</cp:lastModifiedBy>
  <cp:revision>189</cp:revision>
  <cp:lastPrinted>2023-11-28T14:29:46Z</cp:lastPrinted>
  <dcterms:created xsi:type="dcterms:W3CDTF">2022-10-16T16:54:41Z</dcterms:created>
  <dcterms:modified xsi:type="dcterms:W3CDTF">2026-04-20T12:38:30Z</dcterms:modified>
</cp:coreProperties>
</file>